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VLM-Guided Robot Reaching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200" b="0">
                <a:solidFill>
                  <a:srgbClr val="BFD6EE"/>
                </a:solidFill>
                <a:latin typeface="Calibri"/>
              </a:rPr>
              <a:t>Language-conditioned tabletop manipulation with a vision-language model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A frozen Qwen3-VL detector feeds a behaviour-cloned navigation policy that drives a UR5e arm to touch a named object.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BFD6EE"/>
                </a:solidFill>
                <a:latin typeface="Calibri"/>
              </a:rPr>
              <a:t>Onuralp Güvercin   ·   Deep Learning in Robotics   ·  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WHAT ARE WE SOLVING?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22A33"/>
                </a:solidFill>
                <a:latin typeface="Calibri"/>
              </a:rPr>
              <a:t>▸  Task: a robot arm must reach out and touch a specific object named in natural language — e.g. "the red cube".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50" b="0">
                <a:solidFill>
                  <a:srgbClr val="222A33"/>
                </a:solidFill>
                <a:latin typeface="Calibri"/>
              </a:rPr>
              <a:t>•  Scene: a tabletop with 2–4 differently coloured boxes and spheres at random positions (6 colours × 2 shapes).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50" b="0">
                <a:solidFill>
                  <a:srgbClr val="222A33"/>
                </a:solidFill>
                <a:latin typeface="Calibri"/>
              </a:rPr>
              <a:t>•  The robot sees only a top-down camera image; it is never told the target's coordinates.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E8590C"/>
                </a:solidFill>
                <a:latin typeface="Calibri"/>
              </a:rPr>
              <a:t>▸  The central question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50" b="0">
                <a:solidFill>
                  <a:srgbClr val="222A33"/>
                </a:solidFill>
                <a:latin typeface="Calibri"/>
              </a:rPr>
              <a:t>•  Can a vision-language model act as the "eyes" that localise the target, while a small learned policy acts as the "hands" that move toward it?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E8590C"/>
                </a:solidFill>
                <a:latin typeface="Calibri"/>
              </a:rPr>
              <a:t>▸  Success metric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50" b="0">
                <a:solidFill>
                  <a:srgbClr val="222A33"/>
                </a:solidFill>
                <a:latin typeface="Calibri"/>
              </a:rPr>
              <a:t>•  An episode succeeds if the end-effector makes contact with — or comes within 5 cm of — the correct target.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50" b="0">
                <a:solidFill>
                  <a:srgbClr val="222A33"/>
                </a:solidFill>
                <a:latin typeface="Calibri"/>
              </a:rPr>
              <a:t>•  We report success rate, final EE-to-object distance, and steps taken.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PERCEPTION → CONTROL → ACTION, IN A CLOSED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468880" cy="1325880"/>
          </a:xfrm>
          <a:prstGeom prst="round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MuJoCo Env</a:t>
            </a:r>
          </a:p>
          <a:p>
            <a:pPr algn="ctr"/>
            <a:r>
              <a:rPr sz="1100">
                <a:solidFill>
                  <a:srgbClr val="EAF1FB"/>
                </a:solidFill>
              </a:rPr>
              <a:t>top-down image
+ ee_pos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08960" y="2258568"/>
            <a:ext cx="411480" cy="365760"/>
          </a:xfrm>
          <a:prstGeom prst="rightArrow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1783080"/>
            <a:ext cx="2468880" cy="1325880"/>
          </a:xfrm>
          <a:prstGeom prst="roundRect">
            <a:avLst/>
          </a:prstGeom>
          <a:solidFill>
            <a:srgbClr val="2A7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Qwen3-VL (frozen)</a:t>
            </a:r>
          </a:p>
          <a:p>
            <a:pPr algn="ctr"/>
            <a:r>
              <a:rPr sz="1100">
                <a:solidFill>
                  <a:srgbClr val="EAF1FB"/>
                </a:solidFill>
              </a:rPr>
              <a:t>image + object name
→ bbox (cx,cy,w,h)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9320" y="2258568"/>
            <a:ext cx="411480" cy="365760"/>
          </a:xfrm>
          <a:prstGeom prst="rightArrow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2468880" cy="1325880"/>
          </a:xfrm>
          <a:prstGeom prst="round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NavigationMLP</a:t>
            </a:r>
          </a:p>
          <a:p>
            <a:pPr algn="ctr"/>
            <a:r>
              <a:rPr sz="1100">
                <a:solidFill>
                  <a:srgbClr val="EAF1FB"/>
                </a:solidFill>
              </a:rPr>
              <a:t>[bbox, ee_pos]
→ H × Δee (metres)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69680" y="2258568"/>
            <a:ext cx="411480" cy="365760"/>
          </a:xfrm>
          <a:prstGeom prst="rightArrow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1160" y="1783080"/>
            <a:ext cx="2468880" cy="1325880"/>
          </a:xfrm>
          <a:prstGeom prst="round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UR5e Arm</a:t>
            </a:r>
          </a:p>
          <a:p>
            <a:pPr algn="ctr"/>
            <a:r>
              <a:rPr sz="1100">
                <a:solidFill>
                  <a:srgbClr val="EAF1FB"/>
                </a:solidFill>
              </a:rPr>
              <a:t>apply H deltas
→ contact?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5B6670"/>
                </a:solidFill>
                <a:latin typeface="Calibri"/>
              </a:rPr>
              <a:t>Closed loop: the policy executes H steps, then re-queries the VLM   (H steps = 1 VLM call).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0">
                <a:solidFill>
                  <a:srgbClr val="222A33"/>
                </a:solidFill>
                <a:latin typeface="Calibri"/>
              </a:rPr>
              <a:t>•  Perception (VLM): localises the named object as a normalised bounding box. Used off-the-shelf, weights frozen.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0">
                <a:solidFill>
                  <a:srgbClr val="222A33"/>
                </a:solidFill>
                <a:latin typeface="Calibri"/>
              </a:rPr>
              <a:t>•  Control (MLP): 7-D input  [bbox(4) + ee_pos(3)]  →  3·H end-effector deltas in metres.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0">
                <a:solidFill>
                  <a:srgbClr val="222A33"/>
                </a:solidFill>
                <a:latin typeface="Calibri"/>
              </a:rPr>
              <a:t>•  The policy is trained purely by behaviour cloning on a scripted expert — no reinforcement learning, no VLM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Method · 1 — 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TEACHING WITH A SCRIPTED EXPERT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22A33"/>
                </a:solidFill>
                <a:latin typeface="Calibri"/>
              </a:rPr>
              <a:t>▸  An automated expert generates the demonstrations — no human teleop.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Each scene spawns 2–4 objects via rejection sampling (≥ 10 cm apart, unique colours).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For every object, a straight-line controller drives the end-effector toward it in small 4 cm steps.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E8590C"/>
                </a:solidFill>
                <a:latin typeface="Calibri"/>
              </a:rPr>
              <a:t>▸  What is recorded at each step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the top-down RGB image (128×128),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the end-effector position ee_pos (xyz),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the ground-truth bounding box, computed by projecting the object through the camera matrix.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E8590C"/>
                </a:solidFill>
                <a:latin typeface="Calibri"/>
              </a:rPr>
              <a:t>▸  Only successful reaches are saved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contact is detected from MuJoCo geom collisions between gripper and target;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collection is parallelised across worker processes, each with its own seed.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Method · 2 — Policy &amp; Behaviour Cloning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A SMALL RESIDUAL MLP THAT OUTPUTS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222A33"/>
                </a:solidFill>
                <a:latin typeface="Calibri"/>
              </a:rPr>
              <a:t>▸  NavigationMLP — a residual MLP (width 512, 4 residual blocks, SiLU + LayerNorm).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Input  (7-D):  bbox(cx,cy,w,h)  +  normalised ee_pos(x,y,z).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Output  (3·H):  end-effector deltas Δee in metres, H steps ahead.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E8590C"/>
                </a:solidFill>
                <a:latin typeface="Calibri"/>
              </a:rPr>
              <a:t>▸  Trained by behaviour cloning (supervised regression)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Target = the expert's actual step-to-step Δee; loss = MSE on the deltas.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AdamW + warmup→cosine LR; the output head is zero-initialised so the policy starts from gentle, near-zero motions.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E8590C"/>
                </a:solidFill>
                <a:latin typeface="Calibri"/>
              </a:rPr>
              <a:t>▸  Honest evaluation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Stratified train/val/test split by colour+shape; samples from one trajectory never leak across splits.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Test RMSE ≈ 0.0007 m — the policy reproduces expert deltas almost exactly.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Method · 3 — Critical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THE DECISIONS THAT MAKE IT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>
                <a:solidFill>
                  <a:srgbClr val="222A33"/>
                </a:solidFill>
                <a:latin typeface="Calibri"/>
              </a:rPr>
              <a:t>▸  Fixed bounding box per episode.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The bbox is read once and held constant; the loop closes on ee_pos, not on a re-detected box. This makes behaviour robust to frame-to-frame VLM jitter.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>
                <a:solidFill>
                  <a:srgbClr val="222A33"/>
                </a:solidFill>
                <a:latin typeface="Calibri"/>
              </a:rPr>
              <a:t>▸  Delta actions with clamping (±5 cm/step).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Predicting relative motion (not absolute targets) keeps every step bounded and stable — no large jumps.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>
                <a:solidFill>
                  <a:srgbClr val="222A33"/>
                </a:solidFill>
                <a:latin typeface="Calibri"/>
              </a:rPr>
              <a:t>▸  Configurable horizon H (1–5).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H = how many steps run per VLM query. Small H = more re-planning (costly, accurate); large H = more open-loop drift between queries.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700" b="1">
                <a:solidFill>
                  <a:srgbClr val="222A33"/>
                </a:solidFill>
                <a:latin typeface="Calibri"/>
              </a:rPr>
              <a:t>▸  Robust VLM parsing + fallback.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50" b="0">
                <a:solidFill>
                  <a:srgbClr val="222A33"/>
                </a:solidFill>
                <a:latin typeface="Calibri"/>
              </a:rPr>
              <a:t>•  Strips &lt;think&gt; reasoning, auto-detects 0–1000 / 0–128 / 0–1 coordinate scales, and falls back to a GT bbox if a call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We Did Not Train the VLM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A SCOPE DECISION — AND THE PATH WE WOULD 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222A33"/>
                </a:solidFill>
                <a:latin typeface="Calibri"/>
              </a:rPr>
              <a:t>▸  In this project Qwen3-VL-4B is used frozen, off-the-shelf, as the detector.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Fine-tuning a 4-billion-parameter vision-language model needs multi-GPU memory and long training runs — compute we did not have.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So our contribution is the end-to-end pipeline + the control policy, with the VLM as a plug-in perception module.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E8590C"/>
                </a:solidFill>
                <a:latin typeface="Calibri"/>
              </a:rPr>
              <a:t>▸  If compute had been available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We would fine-tune the VLM with GRPO (Group Relative Policy Optimization).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Reward = how well the predicted bbox matches the target (IoU / centre error), or even downstream reaching success.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This adapts the detector to our exact camera, lighting, and object set — directly attacking the VLM-vs-GT gap shown in the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PPO vs GRPO —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GRPO DROPS THE CRITIC AND USES A GROUP BASELINE</a:t>
            </a:r>
          </a:p>
        </p:txBody>
      </p:sp>
      <p:pic>
        <p:nvPicPr>
          <p:cNvPr id="6" name="Picture 5" descr="grpo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87317"/>
            <a:ext cx="7863840" cy="40320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72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PPO trains an extra Value Model ("critic"); GRPO replaces it by sampling a group and normalising rewards.   (DeepSeekMath, 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371600"/>
            <a:ext cx="35661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E8590C"/>
                </a:solidFill>
                <a:latin typeface="Calibri"/>
              </a:rPr>
              <a:t>▸  PPO (top)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needs a separate Value Model to estimate the baseline (advantage via GAE).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= a second large network to train and store.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E8590C"/>
                </a:solidFill>
                <a:latin typeface="Calibri"/>
              </a:rPr>
              <a:t>▸  GRPO (bottom)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samples a GROUP of G answers per prompt,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scores each with the reward model,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uses the group's mean/std as the baseline — no critic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PPO vs GRPO — The Loss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SAME CLIPPED OBJECTIVE, DIFFERENT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Calibri"/>
              </a:rPr>
              <a:t>Shared importance ratio:</a:t>
            </a:r>
          </a:p>
        </p:txBody>
      </p:sp>
      <p:pic>
        <p:nvPicPr>
          <p:cNvPr id="7" name="Picture 6" descr="eq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829" y="1078992"/>
            <a:ext cx="1648022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920240"/>
            <a:ext cx="5532120" cy="3703320"/>
          </a:xfrm>
          <a:prstGeom prst="rect">
            <a:avLst/>
          </a:prstGeom>
          <a:solidFill>
            <a:srgbClr val="FDEEE3"/>
          </a:solidFill>
          <a:ln w="1587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5352" y="1920240"/>
            <a:ext cx="5532120" cy="3703320"/>
          </a:xfrm>
          <a:prstGeom prst="rect">
            <a:avLst/>
          </a:prstGeom>
          <a:solidFill>
            <a:srgbClr val="E7F3EA"/>
          </a:solidFill>
          <a:ln w="15875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920240"/>
            <a:ext cx="5532120" cy="457200"/>
          </a:xfrm>
          <a:prstGeom prst="rect">
            <a:avLst/>
          </a:prstGeom>
          <a:solidFill>
            <a:srgbClr val="9A3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PPO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920240"/>
            <a:ext cx="5532120" cy="4572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GRPO</a:t>
            </a:r>
          </a:p>
        </p:txBody>
      </p:sp>
      <p:pic>
        <p:nvPicPr>
          <p:cNvPr id="12" name="Picture 11" descr="eq_p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92414"/>
            <a:ext cx="5349240" cy="513051"/>
          </a:xfrm>
          <a:prstGeom prst="rect">
            <a:avLst/>
          </a:prstGeom>
        </p:spPr>
      </p:pic>
      <p:pic>
        <p:nvPicPr>
          <p:cNvPr id="13" name="Picture 12" descr="eq_ppo_ad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171" y="3520440"/>
            <a:ext cx="2010737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4206240"/>
            <a:ext cx="5074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Advantage Â comes from a learned critic V (GAE).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9A3412"/>
                </a:solidFill>
                <a:latin typeface="Calibri"/>
              </a:rPr>
              <a:t>• Extra value network → more memory &amp; compute.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KL penalty keeps the policy near the reference.</a:t>
            </a:r>
          </a:p>
        </p:txBody>
      </p:sp>
      <p:pic>
        <p:nvPicPr>
          <p:cNvPr id="15" name="Picture 14" descr="eq_gr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2605910"/>
            <a:ext cx="5349240" cy="686059"/>
          </a:xfrm>
          <a:prstGeom prst="rect">
            <a:avLst/>
          </a:prstGeom>
        </p:spPr>
      </p:pic>
      <p:pic>
        <p:nvPicPr>
          <p:cNvPr id="16" name="Picture 15" descr="eq_grpo_ad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923" y="3520440"/>
            <a:ext cx="1952977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3952" y="4206240"/>
            <a:ext cx="5074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Â = reward normalised within the group (no critic).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66534"/>
                </a:solidFill>
                <a:latin typeface="Calibri"/>
              </a:rPr>
              <a:t>• Group mean is the baseline → lighter &amp; simpler.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Same clipped surrogate + KL to the reference.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Results · Success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VLM-IN-THE-LOOP vs GROUND-TRUTH BBOX (ORACLE)</a:t>
            </a:r>
          </a:p>
        </p:txBody>
      </p:sp>
      <p:pic>
        <p:nvPicPr>
          <p:cNvPr id="6" name="Picture 5" descr="success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88592"/>
            <a:ext cx="7726679" cy="41208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463040"/>
            <a:ext cx="35661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222A33"/>
                </a:solidFill>
                <a:latin typeface="Calibri"/>
              </a:rPr>
              <a:t>▸  Same policy in both runs.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Only the bbox source changes.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E8590C"/>
                </a:solidFill>
                <a:latin typeface="Calibri"/>
              </a:rPr>
              <a:t>▸  GT bbox peaks at H=2 → 100%.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222A33"/>
                </a:solidFill>
                <a:latin typeface="Calibri"/>
              </a:rPr>
              <a:t>▸  VLM bbox is flatter: 65–78%.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The gap is the cost of imperfect perception.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222A33"/>
                </a:solidFill>
                <a:latin typeface="Calibri"/>
              </a:rPr>
              <a:t>▸  VLM degrades least at H=4–5,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where open-loop drift hurts both runs anyway.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Results · Trends &amp; A Real Episode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ACCURACY VS HORIZON, AND WHAT IT LOOKS LIKE</a:t>
            </a:r>
          </a:p>
        </p:txBody>
      </p:sp>
      <p:pic>
        <p:nvPicPr>
          <p:cNvPr id="6" name="Picture 5" descr="gt_vs_v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18" y="1234440"/>
            <a:ext cx="7275443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069080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VLM-bbox episode (H=2): the predicted box (red) tracks the blue cube as the arm reaches it.</a:t>
            </a:r>
          </a:p>
        </p:txBody>
      </p:sp>
      <p:pic>
        <p:nvPicPr>
          <p:cNvPr id="8" name="Picture 7" descr="vlm_epis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940" y="4297680"/>
            <a:ext cx="480060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371600"/>
            <a:ext cx="37033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E8590C"/>
                </a:solidFill>
                <a:latin typeface="Calibri"/>
              </a:rPr>
              <a:t>▸  Final distance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GT reaches ~6 cm at best.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VLM stays ~14–23 cm — bbox error biases the goal point.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E8590C"/>
                </a:solidFill>
                <a:latin typeface="Calibri"/>
              </a:rPr>
              <a:t>▸  Sweet spot: H = 2–3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enough look-ahead, not yet drifting open-loop.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E8590C"/>
                </a:solidFill>
                <a:latin typeface="Calibri"/>
              </a:rPr>
              <a:t>▸  Takeaway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the controller is near-perfect; perception is the limiter.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Results · What the Gap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READING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>
                <a:solidFill>
                  <a:srgbClr val="E8590C"/>
                </a:solidFill>
                <a:latin typeface="Calibri"/>
              </a:rPr>
              <a:t>▸  The policy is essentially solved.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Test RMSE ≈ 0.0007 m, and with oracle bboxes success reaches 100% (H=2). The MLP is not the bottleneck.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>
                <a:solidFill>
                  <a:srgbClr val="E8590C"/>
                </a:solidFill>
                <a:latin typeface="Calibri"/>
              </a:rPr>
              <a:t>▸  Every VLM-run failure traces back to the bounding box.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A box that is off-centre or wrong-sized shifts the goal the arm aims at — so the arm confidently reaches the wrong place.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Because the bbox is fixed per episode, an early detection error persists for the whole reach.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>
                <a:solidFill>
                  <a:srgbClr val="E8590C"/>
                </a:solidFill>
                <a:latin typeface="Calibri"/>
              </a:rPr>
              <a:t>▸  Horizon is a perception-cost trade-off.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Small H re-queries the VLM often (accurate but slow); large H drifts open-loop. H=2–3 balances both.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>
                <a:solidFill>
                  <a:srgbClr val="222A33"/>
                </a:solidFill>
                <a:latin typeface="Calibri"/>
              </a:rPr>
              <a:t>▸  Implication: improving perception — not control — is what raises success. That is exactly what GRPO fine-tuning would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0"/>
            <a:ext cx="1097280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BFD6EE"/>
                </a:solidFill>
                <a:latin typeface="Calibri"/>
              </a:rPr>
              <a:t>WHAT WE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>
                <a:solidFill>
                  <a:srgbClr val="222A33"/>
                </a:solidFill>
                <a:latin typeface="Calibri"/>
              </a:rPr>
              <a:t>▸  A frozen VLM + a tiny behaviour-cloned MLP is enough to build a working language-conditioned reaching system.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>
                <a:solidFill>
                  <a:srgbClr val="E8590C"/>
                </a:solidFill>
                <a:latin typeface="Calibri"/>
              </a:rPr>
              <a:t>▸  The learned controller is near-perfect — up to 100% success with oracle bboxes; it is not the limiting factor.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>
                <a:solidFill>
                  <a:srgbClr val="E8590C"/>
                </a:solidFill>
                <a:latin typeface="Calibri"/>
              </a:rPr>
              <a:t>▸  Perception is the bottleneck — swapping the oracle for the off-the-shelf VLM costs ~15–25 success points.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>
                <a:solidFill>
                  <a:srgbClr val="E8590C"/>
                </a:solidFill>
                <a:latin typeface="Calibri"/>
              </a:rPr>
              <a:t>▸  Clear next step: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fine-tune the VLM with GRPO (reward = bbox accuracy / reaching success) to close the perception gap — the one piece compute prevented here.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750" b="0">
                <a:solidFill>
                  <a:srgbClr val="222A33"/>
                </a:solidFill>
                <a:latin typeface="Calibri"/>
              </a:rPr>
              <a:t>•  GRPO is the natural fit: the reward is cheap to compute and it needs no value network.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800" b="1">
                <a:solidFill>
                  <a:srgbClr val="222A33"/>
                </a:solidFill>
                <a:latin typeface="Calibri"/>
              </a:rPr>
              <a:t>▸  Practical operating point: horizon H = 2–3 — strong accuracy with fewer VLM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VLM-Guided Robot Reaching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B66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