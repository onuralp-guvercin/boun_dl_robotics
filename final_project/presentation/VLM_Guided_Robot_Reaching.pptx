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60704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VLM-Guided Robot Reaching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sz="2200" b="0">
                <a:solidFill>
                  <a:srgbClr val="BFD6EE"/>
                </a:solidFill>
                <a:latin typeface="Calibri"/>
              </a:rPr>
              <a:t>Language-conditioned tabletop manipulation with a vision-language model in 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106070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A frozen Qwen3-VL detector feeds a behaviour-cloned navigation policy that drives a UR5e arm to touch a named object.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500" b="0">
                <a:solidFill>
                  <a:srgbClr val="BFD6EE"/>
                </a:solidFill>
                <a:latin typeface="Calibri"/>
              </a:rPr>
              <a:t>Onuralp Güvercin   ·   Deep Learning in Robotics   ·   Final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222A33"/>
                </a:solidFill>
                <a:latin typeface="Calibri"/>
              </a:rPr>
              <a:t>▸  Task: a robot arm must reach out and touch a specific object named in natural language - e.g. "the red cube".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850" b="0">
                <a:solidFill>
                  <a:srgbClr val="222A33"/>
                </a:solidFill>
                <a:latin typeface="Calibri"/>
              </a:rPr>
              <a:t>•  Scene: a tabletop with 2–4 differently coloured boxes and spheres at random positions (6 colours × 2 shapes).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850" b="0">
                <a:solidFill>
                  <a:srgbClr val="222A33"/>
                </a:solidFill>
                <a:latin typeface="Calibri"/>
              </a:rPr>
              <a:t>•  The robot sees only a top-down camera image; it is never told the target's coordinates.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E8590C"/>
                </a:solidFill>
                <a:latin typeface="Calibri"/>
              </a:rPr>
              <a:t>▸  The central question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850" b="0">
                <a:solidFill>
                  <a:srgbClr val="222A33"/>
                </a:solidFill>
                <a:latin typeface="Calibri"/>
              </a:rPr>
              <a:t>•  Can a vision-language model act as the "eyes" that localise the target, while a small learned policy acts as the "hands" that move toward it?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E8590C"/>
                </a:solidFill>
                <a:latin typeface="Calibri"/>
              </a:rPr>
              <a:t>▸  Success metric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850" b="0">
                <a:solidFill>
                  <a:srgbClr val="222A33"/>
                </a:solidFill>
                <a:latin typeface="Calibri"/>
              </a:rPr>
              <a:t>•  An episode succeeds if the end-effector makes contact with - or comes within 5 cm of - the correct target.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850" b="0">
                <a:solidFill>
                  <a:srgbClr val="222A33"/>
                </a:solidFill>
                <a:latin typeface="Calibri"/>
              </a:rPr>
              <a:t>•  Success rate, final EE-to-object distance, and steps taken are reported.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55664"/>
            <a:ext cx="73152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5B6670"/>
                </a:solidFill>
                <a:latin typeface="Calibri"/>
              </a:rPr>
              <a:t>VLM-Guided Robot Reaching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82296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1">
                <a:solidFill>
                  <a:srgbClr val="5B667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2468880" cy="1325880"/>
          </a:xfrm>
          <a:prstGeom prst="round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MuJoCo Env</a:t>
            </a:r>
          </a:p>
          <a:p>
            <a:pPr algn="ctr"/>
            <a:r>
              <a:rPr sz="1100">
                <a:solidFill>
                  <a:srgbClr val="EAF1FB"/>
                </a:solidFill>
              </a:rPr>
              <a:t>top-down image
+ ee_pos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08960" y="2258568"/>
            <a:ext cx="411480" cy="365760"/>
          </a:xfrm>
          <a:prstGeom prst="rightArrow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20440" y="1783080"/>
            <a:ext cx="2468880" cy="1325880"/>
          </a:xfrm>
          <a:prstGeom prst="roundRect">
            <a:avLst/>
          </a:prstGeom>
          <a:solidFill>
            <a:srgbClr val="2A7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Qwen3-VL (frozen)</a:t>
            </a:r>
          </a:p>
          <a:p>
            <a:pPr algn="ctr"/>
            <a:r>
              <a:rPr sz="1100">
                <a:solidFill>
                  <a:srgbClr val="EAF1FB"/>
                </a:solidFill>
              </a:rPr>
              <a:t>image + object name
→ bbox (cx,cy,w,h)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89320" y="2258568"/>
            <a:ext cx="411480" cy="365760"/>
          </a:xfrm>
          <a:prstGeom prst="rightArrow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783080"/>
            <a:ext cx="2468880" cy="1325880"/>
          </a:xfrm>
          <a:prstGeom prst="round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NavigationMLP</a:t>
            </a:r>
          </a:p>
          <a:p>
            <a:pPr algn="ctr"/>
            <a:r>
              <a:rPr sz="1100">
                <a:solidFill>
                  <a:srgbClr val="EAF1FB"/>
                </a:solidFill>
              </a:rPr>
              <a:t>[bbox, ee_pos]
→ H × Δee (metres)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69680" y="2258568"/>
            <a:ext cx="411480" cy="365760"/>
          </a:xfrm>
          <a:prstGeom prst="rightArrow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281160" y="1783080"/>
            <a:ext cx="2468880" cy="1325880"/>
          </a:xfrm>
          <a:prstGeom prst="round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UR5e Arm</a:t>
            </a:r>
          </a:p>
          <a:p>
            <a:pPr algn="ctr"/>
            <a:r>
              <a:rPr sz="1100">
                <a:solidFill>
                  <a:srgbClr val="EAF1FB"/>
                </a:solidFill>
              </a:rPr>
              <a:t>apply H deltas
→ contact?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5B6670"/>
                </a:solidFill>
                <a:latin typeface="Calibri"/>
              </a:rPr>
              <a:t>Closed loop: the policy executes H steps, then re-queries the VLM   (H steps = 1 VLM call).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0332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50" b="0">
                <a:solidFill>
                  <a:srgbClr val="222A33"/>
                </a:solidFill>
                <a:latin typeface="Calibri"/>
              </a:rPr>
              <a:t>•  Perception (VLM): localises the named object as a normalised bounding box - off-the-shelf, weights frozen.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50" b="0">
                <a:solidFill>
                  <a:srgbClr val="222A33"/>
                </a:solidFill>
                <a:latin typeface="Calibri"/>
              </a:rPr>
              <a:t>•  Control (MLP): 7-D input  [bbox(4) + ee_pos(3)]  →  3·H deltas, predicting H steps of motion in one shot. Trained purely by behaviour cloning - no RL, no VLM training.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50" b="0">
                <a:solidFill>
                  <a:srgbClr val="222A33"/>
                </a:solidFill>
                <a:latin typeface="Calibri"/>
              </a:rPr>
              <a:t>•  Horizon H is the same knob in both training and inference.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50" b="0">
                <a:solidFill>
                  <a:srgbClr val="222A33"/>
                </a:solidFill>
                <a:latin typeface="Calibri"/>
              </a:rPr>
              <a:t>•  Training: each sample regresses H consecutive expert deltas, so the MLP's output head is sized 3·H.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50" b="0">
                <a:solidFill>
                  <a:srgbClr val="222A33"/>
                </a:solidFill>
                <a:latin typeface="Calibri"/>
              </a:rPr>
              <a:t>•  Inference: those H deltas run before the next VLM call - small H = more re-planning &amp; VLM cost, large H = cheaper but more open-loop drift (H = 1–5 is swept).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55664"/>
            <a:ext cx="73152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5B6670"/>
                </a:solidFill>
                <a:latin typeface="Calibri"/>
              </a:rPr>
              <a:t>VLM-Guided Robot Reaching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55664"/>
            <a:ext cx="82296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1">
                <a:solidFill>
                  <a:srgbClr val="5B66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Data Collection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222A33"/>
                </a:solidFill>
                <a:latin typeface="Calibri"/>
              </a:rPr>
              <a:t>▸  An automated scripted expert generates every demonstration - no human teleop, no learning here.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0">
                <a:solidFill>
                  <a:srgbClr val="222A33"/>
                </a:solidFill>
                <a:latin typeface="Calibri"/>
              </a:rPr>
              <a:t>•  Its only job is to produce the correct answer the policy will later imitate; the intelligence lives in the data, not the controller.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Calibri"/>
              </a:rPr>
              <a:t>▸  For each random scene (2–4 objects, rejection-sampled ≥ 10 cm apart, unique colour + shape)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0">
                <a:solidFill>
                  <a:srgbClr val="222A33"/>
                </a:solidFill>
                <a:latin typeface="Calibri"/>
              </a:rPr>
              <a:t>•  every object in the scene is targeted in turn;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0">
                <a:solidFill>
                  <a:srgbClr val="222A33"/>
                </a:solidFill>
                <a:latin typeface="Calibri"/>
              </a:rPr>
              <a:t>•  a straight-line controller drives the end-effector toward the target's (x, y) in 4 cm steps - capped so it never overshoots.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Calibri"/>
              </a:rPr>
              <a:t>▸  Logged at every step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0">
                <a:solidFill>
                  <a:srgbClr val="222A33"/>
                </a:solidFill>
                <a:latin typeface="Calibri"/>
              </a:rPr>
              <a:t>•  top-down RGB image (128×128) and end-effector position ee_pos (xyz);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0">
                <a:solidFill>
                  <a:srgbClr val="222A33"/>
                </a:solidFill>
                <a:latin typeface="Calibri"/>
              </a:rPr>
              <a:t>•  the ground-truth bbox - the object's true 3-D position projected through the camera matrix (not a vision model).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Calibri"/>
              </a:rPr>
              <a:t>▸  What gets saved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0">
                <a:solidFill>
                  <a:srgbClr val="222A33"/>
                </a:solidFill>
                <a:latin typeface="Calibri"/>
              </a:rPr>
              <a:t>•  a reach ends on gripper–target contact (MuJoCo geom collision); only successful reaches are stored - one .pt file per trajectory.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0">
                <a:solidFill>
                  <a:srgbClr val="222A33"/>
                </a:solidFill>
                <a:latin typeface="Calibri"/>
              </a:rPr>
              <a:t>•  parallelised across seeded worker processes → ~2,700 demonstrations.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9A3412"/>
                </a:solidFill>
                <a:latin typeface="Calibri"/>
              </a:rPr>
              <a:t>▸  Action labels (Δee) are not stored - they are derived in training as ee[t+1] − ee[t]. The VLM is never used during collection.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55664"/>
            <a:ext cx="73152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5B6670"/>
                </a:solidFill>
                <a:latin typeface="Calibri"/>
              </a:rPr>
              <a:t>VLM-Guided Robot Reaching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82296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1">
                <a:solidFill>
                  <a:srgbClr val="5B66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Policy &amp; Behaviour Cloning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222A33"/>
                </a:solidFill>
                <a:latin typeface="Calibri"/>
              </a:rPr>
              <a:t>▸  NavigationMLP - a residual MLP (width 512, 4 residual blocks, SiLU + LayerNorm).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0">
                <a:solidFill>
                  <a:srgbClr val="222A33"/>
                </a:solidFill>
                <a:latin typeface="Calibri"/>
              </a:rPr>
              <a:t>•  Input  (7-D):  bbox(cx,cy,w,h)  +  normalised ee_pos(x,y,z).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0">
                <a:solidFill>
                  <a:srgbClr val="222A33"/>
                </a:solidFill>
                <a:latin typeface="Calibri"/>
              </a:rPr>
              <a:t>•  Output  (3·H):  end-effector deltas Δee in metres, H steps ahead.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E8590C"/>
                </a:solidFill>
                <a:latin typeface="Calibri"/>
              </a:rPr>
              <a:t>▸  Trained by behaviour cloning (supervised regression)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0">
                <a:solidFill>
                  <a:srgbClr val="222A33"/>
                </a:solidFill>
                <a:latin typeface="Calibri"/>
              </a:rPr>
              <a:t>•  Target = the expert's next H step-to-step Δee (the same horizon used at inference); loss = MSE on the deltas.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0">
                <a:solidFill>
                  <a:srgbClr val="222A33"/>
                </a:solidFill>
                <a:latin typeface="Calibri"/>
              </a:rPr>
              <a:t>•  Each training sample regresses a whole H-step block at once, so the policy learns to plan the horizon, not just one step.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0">
                <a:solidFill>
                  <a:srgbClr val="222A33"/>
                </a:solidFill>
                <a:latin typeface="Calibri"/>
              </a:rPr>
              <a:t>•  AdamW + warmup→cosine LR; the output head is zero-initialised so the policy starts from gentle, near-zero motions.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E8590C"/>
                </a:solidFill>
                <a:latin typeface="Calibri"/>
              </a:rPr>
              <a:t>▸  Honest evaluation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0">
                <a:solidFill>
                  <a:srgbClr val="222A33"/>
                </a:solidFill>
                <a:latin typeface="Calibri"/>
              </a:rPr>
              <a:t>•  Stratified train/val/test split by colour+shape; samples from one trajectory never leak across splits.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0">
                <a:solidFill>
                  <a:srgbClr val="222A33"/>
                </a:solidFill>
                <a:latin typeface="Calibri"/>
              </a:rPr>
              <a:t>•  Test RMSE ≈ 0.0007 m - the policy reproduces expert deltas almost exactly.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55664"/>
            <a:ext cx="73152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5B6670"/>
                </a:solidFill>
                <a:latin typeface="Calibri"/>
              </a:rPr>
              <a:t>VLM-Guided Robot Reaching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82296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1">
                <a:solidFill>
                  <a:srgbClr val="5B667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Critical Design Choices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222A33"/>
                </a:solidFill>
                <a:latin typeface="Calibri"/>
              </a:rPr>
              <a:t>▸  Fixed bounding box per episode.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50" b="0">
                <a:solidFill>
                  <a:srgbClr val="222A33"/>
                </a:solidFill>
                <a:latin typeface="Calibri"/>
              </a:rPr>
              <a:t>•  The bbox is read once at the start - when the object is clearly visible - and held constant; the loop then closes on ee_pos, not on a re-detected box.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50" b="0">
                <a:solidFill>
                  <a:srgbClr val="222A33"/>
                </a:solidFill>
                <a:latin typeface="Calibri"/>
              </a:rPr>
              <a:t>•  As the arm moves over the target, the gripper occludes the object, so a fresh detection mid-reach would be unreliable or fail; holding the initial box avoids this.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222A33"/>
                </a:solidFill>
                <a:latin typeface="Calibri"/>
              </a:rPr>
              <a:t>▸  Delta actions with clamping (±5 cm/step).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50" b="0">
                <a:solidFill>
                  <a:srgbClr val="222A33"/>
                </a:solidFill>
                <a:latin typeface="Calibri"/>
              </a:rPr>
              <a:t>•  The policy predicts relative motion (Δee), not an absolute target - every command is a small step from the current pose, not a jump to a far point.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50" b="0">
                <a:solidFill>
                  <a:srgbClr val="222A33"/>
                </a:solidFill>
                <a:latin typeface="Calibri"/>
              </a:rPr>
              <a:t>•  Each delta is clipped to ±5 cm per axis (≈ the expert's 4 cm step), so even a wrong prediction can only nudge the arm - keeping the closed loop stable.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222A33"/>
                </a:solidFill>
                <a:latin typeface="Calibri"/>
              </a:rPr>
              <a:t>▸  Configurable horizon H (1–5).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50" b="0">
                <a:solidFill>
                  <a:srgbClr val="222A33"/>
                </a:solidFill>
                <a:latin typeface="Calibri"/>
              </a:rPr>
              <a:t>•  H sets how many predicted steps are executed before the VLM is queried again - directly trading perception cost against open-loop accuracy.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50" b="0">
                <a:solidFill>
                  <a:srgbClr val="222A33"/>
                </a:solidFill>
                <a:latin typeface="Calibri"/>
              </a:rPr>
              <a:t>•  Small H = frequent re-planning (more VLM calls, tighter tracking); large H = cheaper but more drift between detections.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55664"/>
            <a:ext cx="73152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5B6670"/>
                </a:solidFill>
                <a:latin typeface="Calibri"/>
              </a:rPr>
              <a:t>VLM-Guided Robot Reaching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82296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1">
                <a:solidFill>
                  <a:srgbClr val="5B66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The VLM Was Not Trained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800" b="1">
                <a:solidFill>
                  <a:srgbClr val="222A33"/>
                </a:solidFill>
                <a:latin typeface="Calibri"/>
              </a:rPr>
              <a:t>▸  In this project Qwen3-VL-4B is used frozen, off-the-shelf, as the detector.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50" b="0">
                <a:solidFill>
                  <a:srgbClr val="222A33"/>
                </a:solidFill>
                <a:latin typeface="Calibri"/>
              </a:rPr>
              <a:t>•  Fine-tuning a 4-billion-parameter vision-language model needs multi-GPU memory and long training runs - compute that was not available.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50" b="0">
                <a:solidFill>
                  <a:srgbClr val="222A33"/>
                </a:solidFill>
                <a:latin typeface="Calibri"/>
              </a:rPr>
              <a:t>•  So the contribution is the end-to-end pipeline + the control policy, with the VLM as a plug-in perception module.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800" b="1">
                <a:solidFill>
                  <a:srgbClr val="E8590C"/>
                </a:solidFill>
                <a:latin typeface="Calibri"/>
              </a:rPr>
              <a:t>▸  If compute had been available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50" b="0">
                <a:solidFill>
                  <a:srgbClr val="222A33"/>
                </a:solidFill>
                <a:latin typeface="Calibri"/>
              </a:rPr>
              <a:t>•  The VLM would be fine-tuned with GRPO (Group Relative Policy Optimization).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50" b="0">
                <a:solidFill>
                  <a:srgbClr val="222A33"/>
                </a:solidFill>
                <a:latin typeface="Calibri"/>
              </a:rPr>
              <a:t>•  Reward = how well the predicted bbox matches the target (IoU / centre error), or even downstream reaching success.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50" b="0">
                <a:solidFill>
                  <a:srgbClr val="222A33"/>
                </a:solidFill>
                <a:latin typeface="Calibri"/>
              </a:rPr>
              <a:t>•  This adapts the detector to the exact camera, lighting, and object set - directly attacking the VLM-vs-GT gap shown in the results.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55664"/>
            <a:ext cx="73152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5B6670"/>
                </a:solidFill>
                <a:latin typeface="Calibri"/>
              </a:rPr>
              <a:t>VLM-Guided Robot Reaching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82296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1">
                <a:solidFill>
                  <a:srgbClr val="5B667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PPO vs GRPO - The Idea</a:t>
            </a:r>
          </a:p>
        </p:txBody>
      </p:sp>
      <p:pic>
        <p:nvPicPr>
          <p:cNvPr id="5" name="Picture 4" descr="grpo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87317"/>
            <a:ext cx="7863840" cy="40320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17220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1">
                <a:solidFill>
                  <a:srgbClr val="5B6670"/>
                </a:solidFill>
                <a:latin typeface="Calibri"/>
              </a:rPr>
              <a:t>PPO trains an extra Value Model ("critic"); GRPO replaces it by sampling a group and normalising rewards.   (DeepSeekMath, 2024)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60" y="1371600"/>
            <a:ext cx="356616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E8590C"/>
                </a:solidFill>
                <a:latin typeface="Calibri"/>
              </a:rPr>
              <a:t>▸  PPO (top)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50" b="0">
                <a:solidFill>
                  <a:srgbClr val="222A33"/>
                </a:solidFill>
                <a:latin typeface="Calibri"/>
              </a:rPr>
              <a:t>•  needs a separate Value Model to estimate the baseline (advantage via GAE).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50" b="0">
                <a:solidFill>
                  <a:srgbClr val="222A33"/>
                </a:solidFill>
                <a:latin typeface="Calibri"/>
              </a:rPr>
              <a:t>•  = a second large network to train and store.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E8590C"/>
                </a:solidFill>
                <a:latin typeface="Calibri"/>
              </a:rPr>
              <a:t>▸  GRPO (bottom)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50" b="0">
                <a:solidFill>
                  <a:srgbClr val="222A33"/>
                </a:solidFill>
                <a:latin typeface="Calibri"/>
              </a:rPr>
              <a:t>•  samples a GROUP of G answers per prompt,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50" b="0">
                <a:solidFill>
                  <a:srgbClr val="222A33"/>
                </a:solidFill>
                <a:latin typeface="Calibri"/>
              </a:rPr>
              <a:t>•  scores each with the reward model,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50" b="0">
                <a:solidFill>
                  <a:srgbClr val="222A33"/>
                </a:solidFill>
                <a:latin typeface="Calibri"/>
              </a:rPr>
              <a:t>•  uses the group's mean/std as the baseline - no critic at 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55664"/>
            <a:ext cx="73152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5B6670"/>
                </a:solidFill>
                <a:latin typeface="Calibri"/>
              </a:rPr>
              <a:t>VLM-Guided Robot Reaching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55664"/>
            <a:ext cx="82296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1">
                <a:solidFill>
                  <a:srgbClr val="5B667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PPO vs GRPO - The Loss Functions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5B6670"/>
                </a:solidFill>
                <a:latin typeface="Calibri"/>
              </a:rPr>
              <a:t>Shared importance ratio:</a:t>
            </a:r>
          </a:p>
        </p:txBody>
      </p:sp>
      <p:pic>
        <p:nvPicPr>
          <p:cNvPr id="6" name="Picture 5" descr="eq_rat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3829" y="1078992"/>
            <a:ext cx="1648022" cy="640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1920240"/>
            <a:ext cx="5532120" cy="3703320"/>
          </a:xfrm>
          <a:prstGeom prst="rect">
            <a:avLst/>
          </a:prstGeom>
          <a:solidFill>
            <a:srgbClr val="FDEEE3"/>
          </a:solidFill>
          <a:ln w="15875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45352" y="1920240"/>
            <a:ext cx="5532120" cy="3703320"/>
          </a:xfrm>
          <a:prstGeom prst="rect">
            <a:avLst/>
          </a:prstGeom>
          <a:solidFill>
            <a:srgbClr val="E7F3EA"/>
          </a:solidFill>
          <a:ln w="15875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920240"/>
            <a:ext cx="5532120" cy="457200"/>
          </a:xfrm>
          <a:prstGeom prst="rect">
            <a:avLst/>
          </a:prstGeom>
          <a:solidFill>
            <a:srgbClr val="9A3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PPO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920240"/>
            <a:ext cx="5532120" cy="45720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GRPO</a:t>
            </a:r>
          </a:p>
        </p:txBody>
      </p:sp>
      <p:pic>
        <p:nvPicPr>
          <p:cNvPr id="11" name="Picture 10" descr="eq_p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692414"/>
            <a:ext cx="5349240" cy="513051"/>
          </a:xfrm>
          <a:prstGeom prst="rect">
            <a:avLst/>
          </a:prstGeom>
        </p:spPr>
      </p:pic>
      <p:pic>
        <p:nvPicPr>
          <p:cNvPr id="12" name="Picture 11" descr="eq_ppo_ad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2171" y="3520440"/>
            <a:ext cx="2010737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4206240"/>
            <a:ext cx="5074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0">
                <a:solidFill>
                  <a:srgbClr val="222A33"/>
                </a:solidFill>
                <a:latin typeface="Calibri"/>
              </a:rPr>
              <a:t>• Advantage Â comes from a learned critic V (GAE).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9A3412"/>
                </a:solidFill>
                <a:latin typeface="Calibri"/>
              </a:rPr>
              <a:t>• Extra value network → more memory &amp; compute.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0">
                <a:solidFill>
                  <a:srgbClr val="222A33"/>
                </a:solidFill>
                <a:latin typeface="Calibri"/>
              </a:rPr>
              <a:t>• KL penalty keeps the policy near the reference.</a:t>
            </a:r>
          </a:p>
        </p:txBody>
      </p:sp>
      <p:pic>
        <p:nvPicPr>
          <p:cNvPr id="14" name="Picture 13" descr="eq_gr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2605910"/>
            <a:ext cx="5349240" cy="686059"/>
          </a:xfrm>
          <a:prstGeom prst="rect">
            <a:avLst/>
          </a:prstGeom>
        </p:spPr>
      </p:pic>
      <p:pic>
        <p:nvPicPr>
          <p:cNvPr id="15" name="Picture 14" descr="eq_grpo_adv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4923" y="3520440"/>
            <a:ext cx="1952977" cy="5486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73952" y="4206240"/>
            <a:ext cx="5074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0">
                <a:solidFill>
                  <a:srgbClr val="222A33"/>
                </a:solidFill>
                <a:latin typeface="Calibri"/>
              </a:rPr>
              <a:t>• Â = reward normalised within the group (no critic).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166534"/>
                </a:solidFill>
                <a:latin typeface="Calibri"/>
              </a:rPr>
              <a:t>• Group mean is the baseline → lighter &amp; simpler.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0">
                <a:solidFill>
                  <a:srgbClr val="222A33"/>
                </a:solidFill>
                <a:latin typeface="Calibri"/>
              </a:rPr>
              <a:t>• Same clipped surrogate + KL to the reference.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55664"/>
            <a:ext cx="73152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5B6670"/>
                </a:solidFill>
                <a:latin typeface="Calibri"/>
              </a:rPr>
              <a:t>VLM-Guided Robot Reaching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55664"/>
            <a:ext cx="82296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1">
                <a:solidFill>
                  <a:srgbClr val="5B667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Results · Success Rate</a:t>
            </a:r>
          </a:p>
        </p:txBody>
      </p:sp>
      <p:pic>
        <p:nvPicPr>
          <p:cNvPr id="5" name="Picture 4" descr="success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88592"/>
            <a:ext cx="7726679" cy="41208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66760" y="1463040"/>
            <a:ext cx="356616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450" b="1">
                <a:solidFill>
                  <a:srgbClr val="222A33"/>
                </a:solidFill>
                <a:latin typeface="Calibri"/>
              </a:rPr>
              <a:t>▸  Same policy in both runs - only the bbox source changes.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450" b="1">
                <a:solidFill>
                  <a:srgbClr val="E8590C"/>
                </a:solidFill>
                <a:latin typeface="Calibri"/>
              </a:rPr>
              <a:t>▸  GT bbox: 64–81% across horizons.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400" b="0">
                <a:solidFill>
                  <a:srgbClr val="222A33"/>
                </a:solidFill>
                <a:latin typeface="Calibri"/>
              </a:rPr>
              <a:t>•  Best at H=4 (81%); no clear monotonic trend - open-loop drift is not the dominant factor at this scale.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450" b="1">
                <a:solidFill>
                  <a:srgbClr val="222A33"/>
                </a:solidFill>
                <a:latin typeface="Calibri"/>
              </a:rPr>
              <a:t>▸  VLM bbox: 67–78%, within ≤9 pp of GT.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400" b="0">
                <a:solidFill>
                  <a:srgbClr val="222A33"/>
                </a:solidFill>
                <a:latin typeface="Calibri"/>
              </a:rPr>
              <a:t>•  Qwen3-VL bboxes are competitive; the gap closes significantly vs prior expectations.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400" b="0">
                <a:solidFill>
                  <a:srgbClr val="222A33"/>
                </a:solidFill>
                <a:latin typeface="Calibri"/>
              </a:rPr>
              <a:t>•  H=5 shows the clearest VLM penalty (75% vs 67%).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73152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5B6670"/>
                </a:solidFill>
                <a:latin typeface="Calibri"/>
              </a:rPr>
              <a:t>VLM-Guided Robot Reaching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55664"/>
            <a:ext cx="82296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1">
                <a:solidFill>
                  <a:srgbClr val="5B667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Results · Trends &amp; A Real Episode</a:t>
            </a:r>
          </a:p>
        </p:txBody>
      </p:sp>
      <p:pic>
        <p:nvPicPr>
          <p:cNvPr id="5" name="Picture 4" descr="gt_vs_v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518" y="1234440"/>
            <a:ext cx="7275443" cy="2788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069080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1">
                <a:solidFill>
                  <a:srgbClr val="5B6670"/>
                </a:solidFill>
                <a:latin typeface="Calibri"/>
              </a:rPr>
              <a:t>VLM-bbox episode (H=2): the predicted box (red) tracks the blue cube as the arm reaches it.</a:t>
            </a:r>
          </a:p>
        </p:txBody>
      </p:sp>
      <p:pic>
        <p:nvPicPr>
          <p:cNvPr id="7" name="Picture 6" descr="vlm_epis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5940" y="4297680"/>
            <a:ext cx="4800600" cy="2240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1371600"/>
            <a:ext cx="370332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E8590C"/>
                </a:solidFill>
                <a:latin typeface="Calibri"/>
              </a:rPr>
              <a:t>▸  Mean final distance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0">
                <a:solidFill>
                  <a:srgbClr val="222A33"/>
                </a:solidFill>
                <a:latin typeface="Calibri"/>
              </a:rPr>
              <a:t>•  GT: 15–26 cm (all eps).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0">
                <a:solidFill>
                  <a:srgbClr val="222A33"/>
                </a:solidFill>
                <a:latin typeface="Calibri"/>
              </a:rPr>
              <a:t>•  VLM: 14–24 cm - comparable to GT, slight edge at H=3–5.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E8590C"/>
                </a:solidFill>
                <a:latin typeface="Calibri"/>
              </a:rPr>
              <a:t>▸  Sweet spot: H = 3–4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0">
                <a:solidFill>
                  <a:srgbClr val="222A33"/>
                </a:solidFill>
                <a:latin typeface="Calibri"/>
              </a:rPr>
              <a:t>•  best balance of replanning frequency and open-loop drift for both bbox sources.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E8590C"/>
                </a:solidFill>
                <a:latin typeface="Calibri"/>
              </a:rPr>
              <a:t>▸  Takeaway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0">
                <a:solidFill>
                  <a:srgbClr val="222A33"/>
                </a:solidFill>
                <a:latin typeface="Calibri"/>
              </a:rPr>
              <a:t>•  VLM perception is competitive; GRPO fine-tuning could close the remaining gap.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55664"/>
            <a:ext cx="73152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5B6670"/>
                </a:solidFill>
                <a:latin typeface="Calibri"/>
              </a:rPr>
              <a:t>VLM-Guided Robot Reaching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55664"/>
            <a:ext cx="82296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1">
                <a:solidFill>
                  <a:srgbClr val="5B667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Results · What the Gap Means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1">
                <a:solidFill>
                  <a:srgbClr val="E8590C"/>
                </a:solidFill>
                <a:latin typeface="Calibri"/>
              </a:rPr>
              <a:t>▸  Strong behaviour cloning baseline.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50" b="0">
                <a:solidFill>
                  <a:srgbClr val="222A33"/>
                </a:solidFill>
                <a:latin typeface="Calibri"/>
              </a:rPr>
              <a:t>•  Test RMSE ≈ 0.0007 m - the MLP reproduces expert deltas almost exactly. The control policy is not the bottleneck.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1">
                <a:solidFill>
                  <a:srgbClr val="E8590C"/>
                </a:solidFill>
                <a:latin typeface="Calibri"/>
              </a:rPr>
              <a:t>▸  GT performance: 64–81%, best at H=4.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50" b="0">
                <a:solidFill>
                  <a:srgbClr val="222A33"/>
                </a:solidFill>
                <a:latin typeface="Calibri"/>
              </a:rPr>
              <a:t>•  No strict monotonic decline - at 100 episodes/horizon, episode variance is large enough that horizon ordering is noisy.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1">
                <a:solidFill>
                  <a:srgbClr val="E8590C"/>
                </a:solidFill>
                <a:latin typeface="Calibri"/>
              </a:rPr>
              <a:t>▸  VLM perception is competitive (67–78%).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50" b="0">
                <a:solidFill>
                  <a:srgbClr val="222A33"/>
                </a:solidFill>
                <a:latin typeface="Calibri"/>
              </a:rPr>
              <a:t>•  Qwen3-VL bboxes keep the arm close to the right target in most episodes; fixed per episode, a good initial box is enough.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50" b="0">
                <a:solidFill>
                  <a:srgbClr val="222A33"/>
                </a:solidFill>
                <a:latin typeface="Calibri"/>
              </a:rPr>
              <a:t>•  The remaining GT–VLM gap (≤9 pp) represents the cost of imperfect localisation - exactly what GRPO fine-tuning would close.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1">
                <a:solidFill>
                  <a:srgbClr val="222A33"/>
                </a:solidFill>
                <a:latin typeface="Calibri"/>
              </a:rPr>
              <a:t>▸  Implication: a frozen off-the-shelf VLM already reaches 67–78% success; fine-tuning the detector is the clear next lever.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55664"/>
            <a:ext cx="73152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5B6670"/>
                </a:solidFill>
                <a:latin typeface="Calibri"/>
              </a:rPr>
              <a:t>VLM-Guided Robot Reaching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82296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1">
                <a:solidFill>
                  <a:srgbClr val="5B667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22A33"/>
                </a:solidFill>
                <a:latin typeface="Calibri"/>
              </a:rPr>
              <a:t>▸  A frozen VLM + a tiny behaviour-cloned MLP builds a working language-conditioned reaching system.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E8590C"/>
                </a:solidFill>
                <a:latin typeface="Calibri"/>
              </a:rPr>
              <a:t>▸  The learned controller is strong - sub-mm RMSE; the policy is not the limiting factor.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E8590C"/>
                </a:solidFill>
                <a:latin typeface="Calibri"/>
              </a:rPr>
              <a:t>▸  Off-the-shelf Qwen3-VL is surprisingly competitive - 67–78% success, within ≤9 pp of oracle GT bboxes.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E8590C"/>
                </a:solidFill>
                <a:latin typeface="Calibri"/>
              </a:rPr>
              <a:t>▸  The remaining gap is the perception budget: better bbox localisation directly translates to higher success.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E8590C"/>
                </a:solidFill>
                <a:latin typeface="Calibri"/>
              </a:rPr>
              <a:t>▸  Clear next step: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750" b="0">
                <a:solidFill>
                  <a:srgbClr val="222A33"/>
                </a:solidFill>
                <a:latin typeface="Calibri"/>
              </a:rPr>
              <a:t>•  fine-tune the VLM with GRPO (reward = bbox accuracy / reaching success) to close the localisation gap - the one piece compute prevented here.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750" b="0">
                <a:solidFill>
                  <a:srgbClr val="222A33"/>
                </a:solidFill>
                <a:latin typeface="Calibri"/>
              </a:rPr>
              <a:t>•  GRPO is the natural fit: reward is cheap to compute, no value network needed.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22A33"/>
                </a:solidFill>
                <a:latin typeface="Calibri"/>
              </a:rPr>
              <a:t>▸  Practical operating point: H = 3–4 - best success rate for both bbox sources with a reasonable VLM query budget.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55664"/>
            <a:ext cx="73152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5B6670"/>
                </a:solidFill>
                <a:latin typeface="Calibri"/>
              </a:rPr>
              <a:t>VLM-Guided Robot Reaching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82296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1">
                <a:solidFill>
                  <a:srgbClr val="5B667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