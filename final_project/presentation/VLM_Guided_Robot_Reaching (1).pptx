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4uOjAlLXU7JROIQAeF5kxjD67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411480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417320"/>
            <a:ext cx="10607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BFD6EE"/>
                </a:solidFill>
                <a:latin typeface="Calibri"/>
                <a:ea typeface="Calibri"/>
                <a:cs typeface="Calibri"/>
                <a:sym typeface="Calibri"/>
              </a:rPr>
              <a:t>Language-conditioned tabletop manipulation with a vision-language model in the loop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41248" y="4297680"/>
            <a:ext cx="10607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frozen Qwen3-VL detector feeds a behaviour-cloned navigation policy that drives a UR5e arm to touch a named object.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FD6EE"/>
                </a:solidFill>
                <a:latin typeface="Calibri"/>
                <a:ea typeface="Calibri"/>
                <a:cs typeface="Calibri"/>
                <a:sym typeface="Calibri"/>
              </a:rPr>
              <a:t>Onuralp Güvercin   ·   Deep Learning in Robotics   ·   Final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Task: a robot arm must reach out and touch a specific object named in natural language - e.g. "the red cube".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Scene: a tabletop with 2–4 differently coloured boxes and spheres at random positions (6 colours × 2 shapes).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The robot sees only a top-down camera image; it is never told the target's coordinates.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The central question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Can a vision-language model act as the "eyes" that localise the target, while a small learned policy acts as the "hands" that move toward it?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Success metric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An episode succeeds if the end-effector makes contact with - or comes within 5 cm of - the correct target.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Success rate, final EE-to-object distance, and steps taken are reported.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40080" y="1783080"/>
            <a:ext cx="2468880" cy="1325880"/>
          </a:xfrm>
          <a:prstGeom prst="roundRect">
            <a:avLst>
              <a:gd fmla="val 16667" name="adj"/>
            </a:avLst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MuJoCo Env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top-down image</a:t>
            </a:r>
            <a:b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+ ee_pos</a:t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3108960" y="2258568"/>
            <a:ext cx="41148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6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3520440" y="1783080"/>
            <a:ext cx="2468880" cy="1325880"/>
          </a:xfrm>
          <a:prstGeom prst="roundRect">
            <a:avLst>
              <a:gd fmla="val 16667" name="adj"/>
            </a:avLst>
          </a:prstGeom>
          <a:solidFill>
            <a:srgbClr val="2A7D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Qwen3-VL (frozen)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image + object name</a:t>
            </a:r>
            <a:b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→ bbox (cx,cy,w,h)</a:t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5989320" y="2258568"/>
            <a:ext cx="41148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6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400800" y="1783080"/>
            <a:ext cx="2468880" cy="1325880"/>
          </a:xfrm>
          <a:prstGeom prst="roundRect">
            <a:avLst>
              <a:gd fmla="val 16667" name="adj"/>
            </a:avLst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NavigationMLP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[bbox, ee_pos]</a:t>
            </a:r>
            <a:b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→ H × Δee (metres)</a:t>
            </a:r>
            <a:endParaRPr/>
          </a:p>
        </p:txBody>
      </p:sp>
      <p:sp>
        <p:nvSpPr>
          <p:cNvPr id="110" name="Google Shape;110;p3"/>
          <p:cNvSpPr/>
          <p:nvPr/>
        </p:nvSpPr>
        <p:spPr>
          <a:xfrm>
            <a:off x="8869680" y="2258568"/>
            <a:ext cx="41148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B66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281160" y="1783080"/>
            <a:ext cx="2468880" cy="1325880"/>
          </a:xfrm>
          <a:prstGeom prst="roundRect">
            <a:avLst>
              <a:gd fmla="val 16667" name="adj"/>
            </a:avLst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UR5e Arm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apply H deltas</a:t>
            </a:r>
            <a:b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→ contact?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640080" y="324612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Closed loop: the policy executes H steps, then re-queries the VLM   (H steps = 1 VLM call).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40080" y="370332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Perception (VLM): localises the named object as a normalised bounding box - off-the-shelf, weights frozen.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Control (MLP): 7-D input  [bbox(4) + ee_pos(3)]  →  3·H deltas, predicting H steps of motion in one shot. Trained purely by behaviour cloning - no RL, no VLM training.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Horizon H is the same knob in both training and inference.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Training: each sample regresses H consecutive expert deltas, so the MLP's output head is sized 3·H.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Inference: those H deltas run before the next VLM call - small H = more re-planning &amp; VLM cost, large H = cheaper but more open-loop drift (H = 1–5 is swept).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An automated scripted expert generates every demonstration - no human teleop, no learning here.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Its only job is to produce the correct answer the policy will later imitate; the intelligence lives in the data, not the controller.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For each random scene (2–4 objects, rejection-sampled ≥ 10 cm apart, unique colour + shape)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every object in the scene is targeted in turn;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a straight-line controller drives the end-effector toward the target's (x, y) in 4 cm steps - capped so it never overshoots.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Logged at every step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top-down RGB image (128×128) and end-effector position ee_pos (xyz);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the ground-truth bbox - the object's true 3-D position projected through the camera matrix (not a vision model).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What gets saved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a reach ends on gripper–target contact (MuJoCo geom collision); only successful reaches are stored - one .pt file per trajectory.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parallelised across seeded worker processes → ~2,700 demonstrations.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▸  Action labels (Δee) are not stored - they are derived in training as ee[t+1] − ee[t]. The VLM is never used during collection.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Policy &amp; Behaviour Cloning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NavigationMLP - a residual MLP (width 512, 4 residual blocks, SiLU + LayerNorm).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Input  (7-D):  bbox(cx,cy,w,h)  +  normalised ee_pos(x,y,z).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Output  (3·H):  end-effector deltas Δee in metres, H steps ahead.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Trained by behaviour cloning (supervised regression)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Target = the expert's next H step-to-step Δee (the same horizon used at inference); loss = MSE on the deltas.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Each training sample regresses a whole H-step block at once, so the policy learns to plan the horizon, not just one step.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AdamW + warmup→cosine LR; the output head is zero-initialised so the policy starts from gentle, near-zero motions.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Honest evaluation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Stratified train/val/test split by colour+shape; samples from one trajectory never leak across splits.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Test RMSE ≈ 0.0007 m - the policy reproduces expert deltas almost exactly.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Critical Design Choices</a:t>
            </a:r>
            <a:endParaRPr/>
          </a:p>
        </p:txBody>
      </p:sp>
      <p:sp>
        <p:nvSpPr>
          <p:cNvPr id="143" name="Google Shape;143;p6"/>
          <p:cNvSpPr txBox="1"/>
          <p:nvPr/>
        </p:nvSpPr>
        <p:spPr>
          <a:xfrm>
            <a:off x="640080" y="132588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Fixed bounding box per episode.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The bbox is read once at the start - when the object is clearly visible - and held constant; the loop then closes on ee_pos, not on a re-detected box.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As the arm moves over the target, the gripper occludes the object, so a fresh detection mid-reach would be unreliable or fail; holding the initial box avoids this.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Delta actions with clamping (±5 cm/step).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The policy predicts relative motion (Δee), not an absolute target - every command is a small step from the current pose, not a jump to a far point.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Each delta is clipped to ±5 cm per axis (≈ the expert's 4 cm step), so even a wrong prediction can only nudge the arm - keeping the closed loop stable.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Configurable horizon H (1–5).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H sets how many predicted steps are executed before the VLM is queried again - directly trading perception cost against open-loop accuracy.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Small H = frequent re-planning (more VLM calls, tighter tracking); large H = cheaper but more drift between detections.</a:t>
            </a:r>
            <a:endParaRPr/>
          </a:p>
        </p:txBody>
      </p:sp>
      <p:sp>
        <p:nvSpPr>
          <p:cNvPr id="144" name="Google Shape;144;p6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45" name="Google Shape;145;p6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VLM Was Not Trained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In this project Qwen3-VL-4B is used frozen, off-the-shelf, as the detector.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Fine-tuning a 4-billion-parameter vision-language model needs multi-GPU memory and long training runs - compute that was not available.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So the contribution is the end-to-end pipeline + the control policy, with the VLM as a plug-in perception module.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If compute had been available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The VLM would be fine-tuned with GRPO (Group Relative Policy Optimization).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Reward = how well the predicted bbox matches the target (IoU / centre error), or even downstream reaching success.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7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This adapts the detector to the exact camera, lighting, and object set - directly attacking the VLM-vs-GT gap shown in the results.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55" name="Google Shape;155;p7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PPO vs GRPO - The Idea</a:t>
            </a:r>
            <a:endParaRPr/>
          </a:p>
        </p:txBody>
      </p:sp>
      <p:pic>
        <p:nvPicPr>
          <p:cNvPr descr="grpo_diagram.png"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687317"/>
            <a:ext cx="7863840" cy="403200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457200" y="61722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PPO trains an extra Value Model ("critic"); GRPO replaces it by sampling a group and normalising rewards.   (DeepSeekMath, 2024)</a:t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8366760" y="1371600"/>
            <a:ext cx="356616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PPO (top)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needs a separate Value Model to estimate the baseline (advantage via GAE).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= a second large network to train and store.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GRPO (bottom)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samples a GROUP of G answers per prompt,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scores each with the reward model,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uses the group's mean/std as the baseline - no critic at all.</a:t>
            </a:r>
            <a:endParaRPr/>
          </a:p>
        </p:txBody>
      </p:sp>
      <p:sp>
        <p:nvSpPr>
          <p:cNvPr id="166" name="Google Shape;166;p8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67" name="Google Shape;167;p8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PPO vs GRPO - The Loss Functions</a:t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502920" y="11430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Shared importance ratio:</a:t>
            </a:r>
            <a:endParaRPr/>
          </a:p>
        </p:txBody>
      </p:sp>
      <p:pic>
        <p:nvPicPr>
          <p:cNvPr descr="eq_ratio.pn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3829" y="1078992"/>
            <a:ext cx="1648022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411480" y="1920240"/>
            <a:ext cx="5532120" cy="3703320"/>
          </a:xfrm>
          <a:prstGeom prst="rect">
            <a:avLst/>
          </a:prstGeom>
          <a:solidFill>
            <a:srgbClr val="FDEEE3"/>
          </a:solidFill>
          <a:ln cap="flat" cmpd="sng" w="15875">
            <a:solidFill>
              <a:srgbClr val="E859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245352" y="1920240"/>
            <a:ext cx="5532120" cy="3703320"/>
          </a:xfrm>
          <a:prstGeom prst="rect">
            <a:avLst/>
          </a:prstGeom>
          <a:solidFill>
            <a:srgbClr val="E7F3EA"/>
          </a:solidFill>
          <a:ln cap="flat" cmpd="sng" w="15875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411480" y="1920240"/>
            <a:ext cx="5532120" cy="457200"/>
          </a:xfrm>
          <a:prstGeom prst="rect">
            <a:avLst/>
          </a:prstGeom>
          <a:solidFill>
            <a:srgbClr val="9A34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PPO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6245352" y="1920240"/>
            <a:ext cx="5532120" cy="457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GRPO</a:t>
            </a:r>
            <a:endParaRPr/>
          </a:p>
        </p:txBody>
      </p:sp>
      <p:pic>
        <p:nvPicPr>
          <p:cNvPr descr="eq_ppo.png" id="181" name="Google Shape;1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2692414"/>
            <a:ext cx="5349240" cy="513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_ppo_adv.png" id="182" name="Google Shape;18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2171" y="3520440"/>
            <a:ext cx="2010737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9"/>
          <p:cNvSpPr txBox="1"/>
          <p:nvPr/>
        </p:nvSpPr>
        <p:spPr>
          <a:xfrm>
            <a:off x="640080" y="4206240"/>
            <a:ext cx="5074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Advantage Â comes from a learned critic V (GAE).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• Extra value network → more memory &amp; compute.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KL penalty keeps the policy near the reference.</a:t>
            </a:r>
            <a:endParaRPr/>
          </a:p>
        </p:txBody>
      </p:sp>
      <p:pic>
        <p:nvPicPr>
          <p:cNvPr descr="eq_grpo.png" id="184" name="Google Shape;18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6792" y="2605910"/>
            <a:ext cx="5349240" cy="6860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q_grpo_adv.png" id="185" name="Google Shape;185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4923" y="3520440"/>
            <a:ext cx="1952977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6473952" y="4206240"/>
            <a:ext cx="5074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Â = reward normalised within the group (no critic).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• Group mean is the baseline → lighter &amp; simpler.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Same clipped surrogate + KL to the reference.</a:t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· Success Rate</a:t>
            </a:r>
            <a:endParaRPr/>
          </a:p>
        </p:txBody>
      </p:sp>
      <p:pic>
        <p:nvPicPr>
          <p:cNvPr descr="success_bars.png" id="196" name="Google Shape;19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688592"/>
            <a:ext cx="7726679" cy="412089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 txBox="1"/>
          <p:nvPr/>
        </p:nvSpPr>
        <p:spPr>
          <a:xfrm>
            <a:off x="8366760" y="1463040"/>
            <a:ext cx="356616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Same policy in both runs - only the bbox source changes.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GT bbox: a clean, monotonic curve.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100% at H=1–2, then a smooth drop as longer horizons drift open-loop.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VLM bbox: flat &amp; noisy (65–78%).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Wrong boxes - not horizon - decide the outcome, so the curve loses its shape.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The GT–VLM gap = the cost of imperfect perception.</a:t>
            </a:r>
            <a:endParaRPr/>
          </a:p>
        </p:txBody>
      </p:sp>
      <p:sp>
        <p:nvSpPr>
          <p:cNvPr id="198" name="Google Shape;198;p10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· Trends &amp; A Real Episode</a:t>
            </a:r>
            <a:endParaRPr/>
          </a:p>
        </p:txBody>
      </p:sp>
      <p:pic>
        <p:nvPicPr>
          <p:cNvPr descr="gt_vs_vlm.png" id="207" name="Google Shape;2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525" y="1234449"/>
            <a:ext cx="6753518" cy="258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 txBox="1"/>
          <p:nvPr/>
        </p:nvSpPr>
        <p:spPr>
          <a:xfrm>
            <a:off x="502920" y="3877518"/>
            <a:ext cx="7498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5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VLM-bbox episode (H=2): the predicted box (red) tracks the blue cube as the arm reaches it.</a:t>
            </a:r>
            <a:endParaRPr/>
          </a:p>
        </p:txBody>
      </p:sp>
      <p:pic>
        <p:nvPicPr>
          <p:cNvPr descr="vlm_episode.png" id="209" name="Google Shape;2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7" y="4146924"/>
            <a:ext cx="5693261" cy="2656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1"/>
          <p:cNvSpPr txBox="1"/>
          <p:nvPr/>
        </p:nvSpPr>
        <p:spPr>
          <a:xfrm>
            <a:off x="8229600" y="1371600"/>
            <a:ext cx="3703200" cy="27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Final distance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GT reaches ~5 cm at best.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VLM stays ~14–23 cm - bbox error biases the goal point.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Sweet spot: H = </a:t>
            </a:r>
            <a:r>
              <a:rPr b="1" lang="en-US" sz="1450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4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lang="en-US" sz="1450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Planning in each step fixing possible errors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Takeaway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lang="en-US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4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he controller is near-perfect; perception is the limiter.</a:t>
            </a:r>
            <a:endParaRPr/>
          </a:p>
        </p:txBody>
      </p:sp>
      <p:sp>
        <p:nvSpPr>
          <p:cNvPr id="211" name="Google Shape;211;p11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C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502920" y="128016"/>
            <a:ext cx="111556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· What the Gap Means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640080" y="1371600"/>
            <a:ext cx="10972800" cy="512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The policy is essentially solved.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Test RMSE ≈ 0.0007 m, and with oracle bboxes success reaches 100% (H=1–2). The MLP is not the bottleneck.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With a correct box, horizon behaves exactly as expected.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GT success is monotonic - highest at short H, then a smooth decline as longer horizons drift open-loop.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E8590C"/>
                </a:solidFill>
                <a:latin typeface="Calibri"/>
                <a:ea typeface="Calibri"/>
                <a:cs typeface="Calibri"/>
                <a:sym typeface="Calibri"/>
              </a:rPr>
              <a:t>▸  Every VLM-run failure traces back to the bounding box.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An off-centre or wrong-sized box shifts the goal the arm aims at, so it confidently reaches the wrong place; fixed per episode, that error persists for the whole reach.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•  These wrong boxes - not the horizon - dominate the VLM error, so its curve stays flat and noisy instead of monotonic like GT.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2A33"/>
                </a:solidFill>
                <a:latin typeface="Calibri"/>
                <a:ea typeface="Calibri"/>
                <a:cs typeface="Calibri"/>
                <a:sym typeface="Calibri"/>
              </a:rPr>
              <a:t>▸  Implication: improving perception - not control - is what raises success. That is exactly what GRPO fine-tuning would target.</a:t>
            </a:r>
            <a:endParaRPr/>
          </a:p>
        </p:txBody>
      </p:sp>
      <p:sp>
        <p:nvSpPr>
          <p:cNvPr id="220" name="Google Shape;220;p12"/>
          <p:cNvSpPr txBox="1"/>
          <p:nvPr/>
        </p:nvSpPr>
        <p:spPr>
          <a:xfrm>
            <a:off x="365760" y="6455664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VLM-Guided Robot Reaching</a:t>
            </a:r>
            <a:endParaRPr/>
          </a:p>
        </p:txBody>
      </p:sp>
      <p:sp>
        <p:nvSpPr>
          <p:cNvPr id="221" name="Google Shape;221;p12"/>
          <p:cNvSpPr txBox="1"/>
          <p:nvPr/>
        </p:nvSpPr>
        <p:spPr>
          <a:xfrm>
            <a:off x="11155680" y="6455664"/>
            <a:ext cx="8229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B667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